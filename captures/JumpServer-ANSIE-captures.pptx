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de3cce1-e98e-42e4-9c89-625573950c76}">
          <p14:sldIdLst>
            <p14:sldId id="256"/>
          </p14:sldIdLst>
        </p14:section>
        <p14:section name="Avant la connexion" id="{99eb1b98-5952-6422-e080-59ab39b102e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a console" id="{d2bca5ec-7e97-21b2-be74-b74f6a664060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Nouvelles fonctions" id="{654e47b0-acf2-e347-3d27-b2f42963bd54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onclusion" id="{7efe2f98-fba5-2447-1d2c-23d5aaac8c7b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IE_TITLE">
    <p:bg>
      <p:bgPr>
        <a:solidFill>
          <a:srgbClr val="0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4206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4206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IE_SECTION">
    <p:bg>
      <p:bgPr>
        <a:solidFill>
          <a:srgbClr val="033D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37360" y="173736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37360" y="260604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IE_SHOT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ANSIE · JumpServer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IE_SHOT_WIDE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ANSIE · JumpServer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 du logo"/>
          <p:cNvSpPr/>
          <p:nvPr/>
        </p:nvSpPr>
        <p:spPr>
          <a:xfrm>
            <a:off x="548640" y="594360"/>
            <a:ext cx="1325880" cy="13258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 ANSIE" descr="Logo ANS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667512"/>
            <a:ext cx="1179576" cy="117957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48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Nouvelle interface JumpServer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Captures du nouveau design aux couleurs de l’ANSIE et des nouvelles fonctions</a:t>
            </a:r>
            <a:endParaRPr lang="en-US" sz="1600" dirty="0"/>
          </a:p>
        </p:txBody>
      </p:sp>
      <p:pic>
        <p:nvPicPr>
          <p:cNvPr id="6" name="aperçu connexion" descr="Page de connex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3657600" cy="22860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section"/>
          <p:cNvSpPr txBox="1"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737360" y="1737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Avant la connexion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73736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Page de connexion, double authentification, messages et pages d’erreur.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Page de connexion : avant / après</a:t>
            </a:r>
            <a:endParaRPr lang="en-US" sz="2800" dirty="0"/>
          </a:p>
        </p:txBody>
      </p:sp>
      <p:pic>
        <p:nvPicPr>
          <p:cNvPr id="3" name="Page de connexion : avant / après - JumpServer d’origine" descr="Page de connexion : avant / après - JumpServer d’orig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0168"/>
            <a:ext cx="3977640" cy="2486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ag Avant"/>
          <p:cNvSpPr txBox="1"/>
          <p:nvPr/>
        </p:nvSpPr>
        <p:spPr>
          <a:xfrm>
            <a:off x="566928" y="1449895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4748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Avant</a:t>
            </a:r>
            <a:endParaRPr lang="en-US" sz="1100" dirty="0"/>
          </a:p>
        </p:txBody>
      </p:sp>
      <p:sp>
        <p:nvSpPr>
          <p:cNvPr id="5" name="légende JumpServer d’origine"/>
          <p:cNvSpPr txBox="1"/>
          <p:nvPr/>
        </p:nvSpPr>
        <p:spPr>
          <a:xfrm>
            <a:off x="457200" y="3935921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JumpServer d’origine</a:t>
            </a:r>
            <a:endParaRPr lang="en-US" sz="1400" dirty="0"/>
          </a:p>
        </p:txBody>
      </p:sp>
      <p:pic>
        <p:nvPicPr>
          <p:cNvPr id="6" name="Page de connexion : avant / après - Nouveau design ANSIE" descr="Page de connexion : avant / après - Nouveau design ANS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40168"/>
            <a:ext cx="3977640" cy="2486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7" name="tag Après"/>
          <p:cNvSpPr txBox="1"/>
          <p:nvPr/>
        </p:nvSpPr>
        <p:spPr>
          <a:xfrm>
            <a:off x="4818888" y="1449895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Après</a:t>
            </a:r>
            <a:endParaRPr lang="en-US" sz="1100" dirty="0"/>
          </a:p>
        </p:txBody>
      </p:sp>
      <p:sp>
        <p:nvSpPr>
          <p:cNvPr id="8" name="légende Nouveau design ANSIE"/>
          <p:cNvSpPr txBox="1"/>
          <p:nvPr/>
        </p:nvSpPr>
        <p:spPr>
          <a:xfrm>
            <a:off x="4709160" y="3935921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Nouveau design ANSIE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Connexion avec message d’erreur</a:t>
            </a:r>
            <a:endParaRPr lang="en-US" sz="2800" dirty="0"/>
          </a:p>
        </p:txBody>
      </p:sp>
      <p:pic>
        <p:nvPicPr>
          <p:cNvPr id="3" name="Connexion avec message d’erreur" descr="Connexion avec message d’err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Erreur affichée dans un encadré rouge clair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Champs agrandis et arrondis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Autres méthodes de connexion en tuiles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Double authentification (MFA)</a:t>
            </a:r>
            <a:endParaRPr lang="en-US" sz="2800" dirty="0"/>
          </a:p>
        </p:txBody>
      </p:sp>
      <p:pic>
        <p:nvPicPr>
          <p:cNvPr id="3" name="Double authentification (MFA)" descr="Double authentification (MF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Carte centrée avec le logo ANSIE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Bandeau dégradé bleu-vert en haut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Bouton principal en dégradé bleu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Liaison de l’application OTP</a:t>
            </a:r>
            <a:endParaRPr lang="en-US" sz="2800" dirty="0"/>
          </a:p>
        </p:txBody>
      </p:sp>
      <p:pic>
        <p:nvPicPr>
          <p:cNvPr id="3" name="Liaison de l’application OTP" descr="Liaison de l’application O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60" y="960120"/>
            <a:ext cx="5201920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En-tête translucide avec le logo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QR code encadré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Champ du code centré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Messages</a:t>
            </a:r>
            <a:endParaRPr lang="en-US" sz="2800" dirty="0"/>
          </a:p>
        </p:txBody>
      </p:sp>
      <p:pic>
        <p:nvPicPr>
          <p:cNvPr id="3" name="Messages - Message de succès" descr="Messages - Message de succè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0168"/>
            <a:ext cx="3977640" cy="2486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légende Message de succès"/>
          <p:cNvSpPr txBox="1"/>
          <p:nvPr/>
        </p:nvSpPr>
        <p:spPr>
          <a:xfrm>
            <a:off x="457200" y="393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 de succès</a:t>
            </a:r>
            <a:endParaRPr lang="en-US" sz="1400" dirty="0"/>
          </a:p>
        </p:txBody>
      </p:sp>
      <p:pic>
        <p:nvPicPr>
          <p:cNvPr id="5" name="Messages - Message d’erreur" descr="Messages - Message d’erre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40168"/>
            <a:ext cx="3977640" cy="2486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6" name="légende Message d’erreur"/>
          <p:cNvSpPr txBox="1"/>
          <p:nvPr/>
        </p:nvSpPr>
        <p:spPr>
          <a:xfrm>
            <a:off x="4709160" y="393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 d’erreur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Pages d’erreur</a:t>
            </a:r>
            <a:endParaRPr lang="en-US" sz="2800" dirty="0"/>
          </a:p>
        </p:txBody>
      </p:sp>
      <p:pic>
        <p:nvPicPr>
          <p:cNvPr id="3" name="Pages d’erreur - Page introuvable (404)" descr="Pages d’erreur - Page introuvable (40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4469"/>
            <a:ext cx="3977640" cy="223742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légende Page introuvable (404)"/>
          <p:cNvSpPr txBox="1"/>
          <p:nvPr/>
        </p:nvSpPr>
        <p:spPr>
          <a:xfrm>
            <a:off x="457200" y="3811619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introuvable (404)</a:t>
            </a:r>
            <a:endParaRPr lang="en-US" sz="1400" dirty="0"/>
          </a:p>
        </p:txBody>
      </p:sp>
      <p:pic>
        <p:nvPicPr>
          <p:cNvPr id="5" name="Pages d’erreur - Erreur serveur (500)" descr="Pages d’erreur - Erreur serveur (50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4469"/>
            <a:ext cx="3977640" cy="223742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6" name="légende Erreur serveur (500)"/>
          <p:cNvSpPr txBox="1"/>
          <p:nvPr/>
        </p:nvSpPr>
        <p:spPr>
          <a:xfrm>
            <a:off x="4709160" y="3811619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Erreur serveur (500)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section"/>
          <p:cNvSpPr txBox="1"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737360" y="1737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console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73736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Tableaux de bord, listes et paramètres après la connexion.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Tableau de bord Audits</a:t>
            </a:r>
            <a:endParaRPr lang="en-US" sz="2800" dirty="0"/>
          </a:p>
        </p:txBody>
      </p:sp>
      <p:pic>
        <p:nvPicPr>
          <p:cNvPr id="3" name="Tableau de bord Audits" descr="Tableau de bord Aud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5053"/>
            <a:ext cx="5806440" cy="346773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Barre du haut en dégradé bleu marine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Logo et nom ANSIE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Graphiques en bleu et vert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Tableau de bord Console</a:t>
            </a:r>
            <a:endParaRPr lang="en-US" sz="2800" dirty="0"/>
          </a:p>
        </p:txBody>
      </p:sp>
      <p:pic>
        <p:nvPicPr>
          <p:cNvPr id="3" name="Tableau de bord Console" descr="Tableau de bord Cons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5053"/>
            <a:ext cx="5806440" cy="346773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Cartes arrondies avec ombre douce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Sélecteur Aujourd’hui / Semaine / Mois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Menu de gauche avec élément actif surligné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Liste des utilisateurs</a:t>
            </a:r>
            <a:endParaRPr lang="en-US" sz="2800" dirty="0"/>
          </a:p>
        </p:txBody>
      </p:sp>
      <p:pic>
        <p:nvPicPr>
          <p:cNvPr id="3" name="Liste des utilisateurs" descr="Liste des utilisa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5053"/>
            <a:ext cx="5806440" cy="346773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Tableaux plus aérés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Bouton « Créer » en dégradé bleu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Pagination arrondie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Espace de travail</a:t>
            </a:r>
            <a:endParaRPr lang="en-US" sz="2800" dirty="0"/>
          </a:p>
        </p:txBody>
      </p:sp>
      <p:pic>
        <p:nvPicPr>
          <p:cNvPr id="3" name="Espace de travail" descr="Espace de trav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5053"/>
            <a:ext cx="5806440" cy="346773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Vue de l’utilisateur final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Sessions récentes et profil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Même style que la console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Paramètres</a:t>
            </a:r>
            <a:endParaRPr lang="en-US" sz="2800" dirty="0"/>
          </a:p>
        </p:txBody>
      </p:sp>
      <p:pic>
        <p:nvPicPr>
          <p:cNvPr id="3" name="Paramètres" descr="Paramè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7633"/>
            <a:ext cx="5806440" cy="282257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Champs et boutons arrondis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Sections bien séparées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Bouton « Envoyer » en dégradé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Version mobile</a:t>
            </a:r>
            <a:endParaRPr lang="en-US" sz="2800" dirty="0"/>
          </a:p>
        </p:txBody>
      </p:sp>
      <p:pic>
        <p:nvPicPr>
          <p:cNvPr id="3" name="Version mobile - Connexion sur téléphone" descr="Version mobile - Connexion sur télé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028" y="960120"/>
            <a:ext cx="1499984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légende Connexion sur téléphone"/>
          <p:cNvSpPr txBox="1"/>
          <p:nvPr/>
        </p:nvSpPr>
        <p:spPr>
          <a:xfrm>
            <a:off x="457200" y="43159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Connexion sur téléphone</a:t>
            </a:r>
            <a:endParaRPr lang="en-US" sz="1400" dirty="0"/>
          </a:p>
        </p:txBody>
      </p:sp>
      <p:pic>
        <p:nvPicPr>
          <p:cNvPr id="5" name="Version mobile - Console sur téléphone" descr="Version mobile - Console sur télé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88" y="960120"/>
            <a:ext cx="1499984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6" name="légende Console sur téléphone"/>
          <p:cNvSpPr txBox="1"/>
          <p:nvPr/>
        </p:nvSpPr>
        <p:spPr>
          <a:xfrm>
            <a:off x="4709160" y="43159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Console sur téléphone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section"/>
          <p:cNvSpPr txBox="1"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737360" y="1737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Nouvelles fonctions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73736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Personnalisation, restrictions de connexion, rapports et sécurité des comptes.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Personnalisation</a:t>
            </a:r>
            <a:endParaRPr lang="en-US" sz="2800" dirty="0"/>
          </a:p>
        </p:txBody>
      </p:sp>
      <p:pic>
        <p:nvPicPr>
          <p:cNvPr id="3" name="Personnalisation" descr="Personnali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Paramètres → Personnalisation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Logo, nom, titre, message, couleurs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Aperçu en direct avant d’enregistrer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Exemple : autres couleurs</a:t>
            </a:r>
            <a:endParaRPr lang="en-US" sz="2800" dirty="0"/>
          </a:p>
        </p:txBody>
      </p:sp>
      <p:pic>
        <p:nvPicPr>
          <p:cNvPr id="3" name="Exemple : autres couleurs" descr="Exemple : autres coul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Couleurs changées en violet et orange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console change aussitôt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bouton remet les couleurs ANSIE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Restrictions de connexion</a:t>
            </a:r>
            <a:endParaRPr lang="en-US" sz="2800" dirty="0"/>
          </a:p>
        </p:txBody>
      </p:sp>
      <p:pic>
        <p:nvPicPr>
          <p:cNvPr id="3" name="Restrictions de connexion" descr="Restrictions de connex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Paramètres → Restrictions de connexion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Autoriser ou bloquer selon utilisateur, IP, jours, heures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règle résumée en une phrase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Contrôle des saisies</a:t>
            </a:r>
            <a:endParaRPr lang="en-US" sz="2800" dirty="0"/>
          </a:p>
        </p:txBody>
      </p:sp>
      <p:pic>
        <p:nvPicPr>
          <p:cNvPr id="3" name="Contrôle des saisies" descr="Contrôle des sais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adresse IP invalide est refusée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message s’affiche sous le champ concerné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Connexion bloquée par une règle</a:t>
            </a:r>
            <a:endParaRPr lang="en-US" sz="2800" dirty="0"/>
          </a:p>
        </p:txBody>
      </p:sp>
      <p:pic>
        <p:nvPicPr>
          <p:cNvPr id="3" name="Connexion bloquée par une règle" descr="Connexion bloquée par une rè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4408"/>
            <a:ext cx="5806440" cy="36290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L’utilisateur voit le message de la règle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super-administrateurs peuvent être exemptés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S’applique à toutes les méthodes de connexion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Rapports d’activité</a:t>
            </a:r>
            <a:endParaRPr lang="en-US" sz="2800" dirty="0"/>
          </a:p>
        </p:txBody>
      </p:sp>
      <p:pic>
        <p:nvPicPr>
          <p:cNvPr id="3" name="Rapports d’activité" descr="Rapports d’activi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960120"/>
            <a:ext cx="5266944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Audits → Rapports d’activité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Connexions, sessions, commandes dangereuses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 CSV et impression /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Sécurité des comptes</a:t>
            </a:r>
            <a:endParaRPr lang="en-US" sz="2800" dirty="0"/>
          </a:p>
        </p:txBody>
      </p:sp>
      <p:pic>
        <p:nvPicPr>
          <p:cNvPr id="3" name="Sécurité des comptes" descr="Sécurité des comp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960120"/>
            <a:ext cx="5266944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8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537960" y="100584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Console → Sécurité des comptes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 de sécurité sur 100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Comptes à risque, avec export 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 résumé</a:t>
            </a:r>
            <a:endParaRPr lang="en-US" sz="3600" dirty="0"/>
          </a:p>
        </p:txBody>
      </p:sp>
      <p:sp>
        <p:nvSpPr>
          <p:cNvPr id="3" name="carte Nouveau design"/>
          <p:cNvSpPr/>
          <p:nvPr/>
        </p:nvSpPr>
        <p:spPr>
          <a:xfrm>
            <a:off x="548640" y="173736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0B4EA2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4" name="numéro 1"/>
          <p:cNvSpPr txBox="1"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itre Nouveau design"/>
          <p:cNvSpPr txBox="1"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Nouveau design</a:t>
            </a:r>
            <a:endParaRPr lang="en-US" sz="1800" dirty="0"/>
          </a:p>
        </p:txBody>
      </p:sp>
      <p:sp>
        <p:nvSpPr>
          <p:cNvPr id="6" name="texte Nouveau design"/>
          <p:cNvSpPr txBox="1"/>
          <p:nvPr/>
        </p:nvSpPr>
        <p:spPr>
          <a:xfrm>
            <a:off x="7772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Connexion, console et terminal aux couleurs de l’ANSIE</a:t>
            </a:r>
            <a:endParaRPr lang="en-US" sz="1400" dirty="0"/>
          </a:p>
        </p:txBody>
      </p:sp>
      <p:sp>
        <p:nvSpPr>
          <p:cNvPr id="7" name="carte 4 nouvelles fonctions"/>
          <p:cNvSpPr/>
          <p:nvPr/>
        </p:nvSpPr>
        <p:spPr>
          <a:xfrm>
            <a:off x="3291840" y="173736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0B4EA2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3520440" y="1965960"/>
            <a:ext cx="502920" cy="50292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itre 4 nouvelles fonctions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 nouvelles fonctions</a:t>
            </a:r>
            <a:endParaRPr lang="en-US" sz="1800" dirty="0"/>
          </a:p>
        </p:txBody>
      </p:sp>
      <p:sp>
        <p:nvSpPr>
          <p:cNvPr id="10" name="texte 4 nouvelles fonctions"/>
          <p:cNvSpPr txBox="1"/>
          <p:nvPr/>
        </p:nvSpPr>
        <p:spPr>
          <a:xfrm>
            <a:off x="35204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Personnalisation, restrictions de connexion, rapports, sécurité des comptes</a:t>
            </a:r>
            <a:endParaRPr lang="en-US" sz="1400" dirty="0"/>
          </a:p>
        </p:txBody>
      </p:sp>
      <p:sp>
        <p:nvSpPr>
          <p:cNvPr id="11" name="carte Testé"/>
          <p:cNvSpPr/>
          <p:nvPr/>
        </p:nvSpPr>
        <p:spPr>
          <a:xfrm>
            <a:off x="6035040" y="173736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0B4EA2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2" name="numéro 3"/>
          <p:cNvSpPr txBox="1"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0A9A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itre Testé"/>
          <p:cNvSpPr txBox="1"/>
          <p:nvPr/>
        </p:nvSpPr>
        <p:spPr>
          <a:xfrm>
            <a:off x="6263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Testé</a:t>
            </a:r>
            <a:endParaRPr lang="en-US" sz="1800" dirty="0"/>
          </a:p>
        </p:txBody>
      </p:sp>
      <p:sp>
        <p:nvSpPr>
          <p:cNvPr id="14" name="texte Testé"/>
          <p:cNvSpPr txBox="1"/>
          <p:nvPr/>
        </p:nvSpPr>
        <p:spPr>
          <a:xfrm>
            <a:off x="62636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Sur un vrai serveur JumpServer, avec tests automatiques</a:t>
            </a:r>
            <a:endParaRPr lang="en-US" sz="1400" dirty="0"/>
          </a:p>
        </p:txBody>
      </p:sp>
      <p:sp>
        <p:nvSpPr>
          <p:cNvPr id="15" name="lien du code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Code : github.com/obssieh-hash/uediaefgzeaf-egferzufgezifzehu- (branche claude/gifted-volta-ekcd8v)</a:t>
            </a:r>
            <a:endParaRPr lang="en-US" sz="12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2148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IE">
  <a:themeElements>
    <a:clrScheme name="ANSIE">
      <a:dk1>
        <a:srgbClr val="1E293B"/>
      </a:dk1>
      <a:lt1>
        <a:srgbClr val="FFFFFF"/>
      </a:lt1>
      <a:dk2>
        <a:srgbClr val="033D80"/>
      </a:dk2>
      <a:lt2>
        <a:srgbClr val="F3F6FB"/>
      </a:lt2>
      <a:accent1>
        <a:srgbClr val="0B4EA2"/>
      </a:accent1>
      <a:accent2>
        <a:srgbClr val="0A9A25"/>
      </a:accent2>
      <a:accent3>
        <a:srgbClr val="1E6FD9"/>
      </a:accent3>
      <a:accent4>
        <a:srgbClr val="F59E0B"/>
      </a:accent4>
      <a:accent5>
        <a:srgbClr val="E5484D"/>
      </a:accent5>
      <a:accent6>
        <a:srgbClr val="64748B"/>
      </a:accent6>
      <a:hlink>
        <a:srgbClr val="0B4EA2"/>
      </a:hlink>
      <a:folHlink>
        <a:srgbClr val="033D80"/>
      </a:folHlink>
    </a:clrScheme>
    <a:fontScheme name="ANSI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JumpServer ANSIE - captures</dc:title>
  <dc:subject>PptxGenJS Presentation</dc:subject>
  <dc:creator>ANSIE</dc:creator>
  <cp:lastModifiedBy>ANSIE</cp:lastModifiedBy>
  <cp:revision>1</cp:revision>
  <dcterms:created xsi:type="dcterms:W3CDTF">2026-10-13T08:02:17Z</dcterms:created>
  <dcterms:modified xsi:type="dcterms:W3CDTF">2026-10-13T08:02:17Z</dcterms:modified>
</cp:coreProperties>
</file>